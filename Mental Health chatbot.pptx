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5"/>
  </p:notesMasterIdLst>
  <p:sldIdLst>
    <p:sldId id="256" r:id="rId5"/>
    <p:sldId id="2146847054" r:id="rId6"/>
    <p:sldId id="262" r:id="rId7"/>
    <p:sldId id="263" r:id="rId8"/>
    <p:sldId id="265" r:id="rId9"/>
    <p:sldId id="2146847059" r:id="rId10"/>
    <p:sldId id="2146847060" r:id="rId11"/>
    <p:sldId id="266" r:id="rId12"/>
    <p:sldId id="2146847061" r:id="rId13"/>
    <p:sldId id="267" r:id="rId14"/>
    <p:sldId id="2146847066" r:id="rId15"/>
    <p:sldId id="2146847065" r:id="rId16"/>
    <p:sldId id="2146847064" r:id="rId17"/>
    <p:sldId id="2146847063" r:id="rId18"/>
    <p:sldId id="2146847062" r:id="rId19"/>
    <p:sldId id="268" r:id="rId20"/>
    <p:sldId id="2146847055" r:id="rId21"/>
    <p:sldId id="269" r:id="rId22"/>
    <p:sldId id="2146847058" r:id="rId23"/>
    <p:sldId id="25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ADE4"/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24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E254F1-4415-47BF-9E91-C5D4B9A3335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58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1/20/2026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1/20/2026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1/20/2026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1/20/2026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onsole.groq.com/docs" TargetMode="External"/><Relationship Id="rId2" Type="http://schemas.openxmlformats.org/officeDocument/2006/relationships/hyperlink" Target="https://docs.streamlit.io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de.visualstudio.com/" TargetMode="External"/><Relationship Id="rId4" Type="http://schemas.openxmlformats.org/officeDocument/2006/relationships/hyperlink" Target="https://ai.meta.com/llama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mental-health-chatbots.streamlit.app/" TargetMode="External"/><Relationship Id="rId2" Type="http://schemas.openxmlformats.org/officeDocument/2006/relationships/hyperlink" Target="https://github.com/DIVYADHARSHINI-S-16/Mental-Health-Chatbot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chemeClr val="accent1"/>
                </a:solidFill>
              </a:rPr>
              <a:t>MENTAL HEALTH COMPANION CHATBOT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91291" y="4058588"/>
            <a:ext cx="9691088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Name -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Divyadharshini S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Name - </a:t>
            </a:r>
            <a:r>
              <a:rPr lang="en-US" sz="2000" b="1" dirty="0" err="1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Easwari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Engineering College</a:t>
            </a:r>
            <a:endParaRPr lang="en-US" sz="2000" dirty="0">
              <a:solidFill>
                <a:schemeClr val="accent1">
                  <a:lumMod val="75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 - BE -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Computer Science and Engineering</a:t>
            </a:r>
            <a:endParaRPr lang="en-US" sz="2000" dirty="0">
              <a:solidFill>
                <a:schemeClr val="accent1">
                  <a:lumMod val="75000"/>
                </a:schemeClr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106" y="1880875"/>
            <a:ext cx="11007114" cy="440562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>
                <a:latin typeface="Arial"/>
                <a:ea typeface="+mn-lt"/>
                <a:cs typeface="Arial"/>
              </a:rPr>
              <a:t>  </a:t>
            </a:r>
            <a:endParaRPr lang="en-US">
              <a:latin typeface="Arial"/>
              <a:cs typeface="Arial"/>
            </a:endParaRPr>
          </a:p>
          <a:p>
            <a:pPr marL="305435" indent="-305435"/>
            <a:r>
              <a:rPr lang="en-US" sz="2000" b="1">
                <a:latin typeface="Arial"/>
                <a:ea typeface="+mn-lt"/>
                <a:cs typeface="Arial"/>
              </a:rPr>
              <a:t>Problem Statement </a:t>
            </a:r>
            <a:endParaRPr lang="en-US" sz="2000">
              <a:latin typeface="Arial"/>
              <a:cs typeface="Arial"/>
            </a:endParaRPr>
          </a:p>
          <a:p>
            <a:pPr marL="305435" indent="-305435"/>
            <a:r>
              <a:rPr lang="en-US" sz="2000" b="1">
                <a:latin typeface="Arial"/>
                <a:ea typeface="+mn-lt"/>
                <a:cs typeface="Arial"/>
              </a:rPr>
              <a:t>Proposed System/Solution</a:t>
            </a:r>
            <a:endParaRPr lang="en-US">
              <a:latin typeface="Arial"/>
              <a:cs typeface="Arial"/>
            </a:endParaRPr>
          </a:p>
          <a:p>
            <a:pPr marL="305435" indent="-305435"/>
            <a:r>
              <a:rPr lang="en-US" sz="2000" b="1">
                <a:latin typeface="Arial"/>
                <a:ea typeface="+mn-lt"/>
                <a:cs typeface="Calibri"/>
              </a:rPr>
              <a:t>System </a:t>
            </a:r>
            <a:r>
              <a:rPr lang="en-US" sz="2000" b="1">
                <a:latin typeface="Arial"/>
                <a:ea typeface="+mn-lt"/>
                <a:cs typeface="+mn-lt"/>
              </a:rPr>
              <a:t>Development Approach </a:t>
            </a:r>
            <a:endParaRPr lang="en-US" sz="200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2000" b="1">
                <a:latin typeface="Arial"/>
                <a:ea typeface="+mn-lt"/>
                <a:cs typeface="+mn-lt"/>
              </a:rPr>
              <a:t>Algorithm &amp; Deployment  </a:t>
            </a:r>
            <a:endParaRPr lang="en-US">
              <a:latin typeface="Arial"/>
              <a:cs typeface="Calibri"/>
            </a:endParaRPr>
          </a:p>
          <a:p>
            <a:pPr marL="305435" indent="-305435"/>
            <a:r>
              <a:rPr lang="en-US" sz="2000" b="1">
                <a:latin typeface="Arial"/>
                <a:ea typeface="+mn-lt"/>
                <a:cs typeface="Arial"/>
              </a:rPr>
              <a:t>Result</a:t>
            </a:r>
          </a:p>
          <a:p>
            <a:pPr marL="305435" indent="-305435"/>
            <a:r>
              <a:rPr lang="en-US" sz="2000" b="1">
                <a:latin typeface="Arial"/>
                <a:ea typeface="+mn-lt"/>
                <a:cs typeface="Arial"/>
              </a:rPr>
              <a:t>Conclusion</a:t>
            </a:r>
            <a:endParaRPr lang="en-US">
              <a:latin typeface="Arial"/>
              <a:cs typeface="Arial"/>
            </a:endParaRPr>
          </a:p>
          <a:p>
            <a:pPr marL="305435" indent="-305435"/>
            <a:r>
              <a:rPr lang="en-US" sz="2000" b="1">
                <a:latin typeface="Arial"/>
                <a:ea typeface="+mn-lt"/>
                <a:cs typeface="Arial"/>
              </a:rPr>
              <a:t>Future Scope</a:t>
            </a:r>
          </a:p>
          <a:p>
            <a:pPr marL="305435" indent="-305435"/>
            <a:r>
              <a:rPr lang="en-US" sz="2000" b="1">
                <a:latin typeface="Arial"/>
                <a:ea typeface="+mn-lt"/>
                <a:cs typeface="Arial"/>
              </a:rPr>
              <a:t>References</a:t>
            </a:r>
            <a:endParaRPr lang="en-US">
              <a:latin typeface="Arial"/>
              <a:cs typeface="Arial"/>
            </a:endParaRPr>
          </a:p>
          <a:p>
            <a:pPr marL="305435" indent="-305435"/>
            <a:endParaRPr lang="en-US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E934C6-2717-7410-9362-C76D22B3CF86}"/>
              </a:ext>
            </a:extLst>
          </p:cNvPr>
          <p:cNvSpPr txBox="1"/>
          <p:nvPr/>
        </p:nvSpPr>
        <p:spPr>
          <a:xfrm>
            <a:off x="581192" y="1164134"/>
            <a:ext cx="11284737" cy="54938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 dirty="0"/>
              <a:t>In recent years, students have been experiencing </a:t>
            </a:r>
            <a:r>
              <a:rPr lang="en-US" sz="2700" b="1" dirty="0"/>
              <a:t>increased levels of stress, anxiety, depression, and emotional burnout</a:t>
            </a:r>
            <a:r>
              <a:rPr lang="en-US" sz="2700" dirty="0"/>
              <a:t> due to academic pressure, competitive environments, career uncertainty, and social challenges. While mental health support is essential, many students </a:t>
            </a:r>
            <a:r>
              <a:rPr lang="en-US" sz="2700" b="1" dirty="0"/>
              <a:t>hesitate to seek professional counseling</a:t>
            </a:r>
            <a:r>
              <a:rPr lang="en-US" sz="2700" dirty="0"/>
              <a:t> because of stigma, lack of awareness, high costs, or limited access to mental health professionals. As a result, emotional struggles often remain unaddressed, negatively affecting students’ </a:t>
            </a:r>
            <a:r>
              <a:rPr lang="en-US" sz="2700" b="1" dirty="0"/>
              <a:t>academic performance, personal well-being, and confidence</a:t>
            </a:r>
            <a:r>
              <a:rPr lang="en-US" sz="2700" dirty="0"/>
              <a:t>. There is a strong need for a </a:t>
            </a:r>
            <a:r>
              <a:rPr lang="en-US" sz="2700" b="1" dirty="0"/>
              <a:t>safe, private, and easily accessible digital support system</a:t>
            </a:r>
            <a:r>
              <a:rPr lang="en-US" sz="2700" dirty="0"/>
              <a:t> that allows students to express their emotions freely. An AI-powered mental health </a:t>
            </a:r>
            <a:r>
              <a:rPr lang="en-US" sz="2700" dirty="0" err="1"/>
              <a:t>chatbot</a:t>
            </a:r>
            <a:r>
              <a:rPr lang="en-US" sz="2700" dirty="0"/>
              <a:t> can help bridge this gap by </a:t>
            </a:r>
            <a:r>
              <a:rPr lang="en-US" sz="2700" b="1" dirty="0"/>
              <a:t>detecting mood through sentiment analysis, providing empathetic responses, and offering basic relaxation and wellness guidance</a:t>
            </a:r>
            <a:r>
              <a:rPr lang="en-US" sz="2700" dirty="0"/>
              <a:t> anytime and anywhere.</a:t>
            </a: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Proposed SYSTEM/Solution</a:t>
            </a:r>
            <a:endParaRPr lang="en-US" sz="4400" dirty="0">
              <a:solidFill>
                <a:schemeClr val="accen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8BACC7-604A-EB45-8D90-1CF939DC980C}"/>
              </a:ext>
            </a:extLst>
          </p:cNvPr>
          <p:cNvSpPr txBox="1"/>
          <p:nvPr/>
        </p:nvSpPr>
        <p:spPr>
          <a:xfrm>
            <a:off x="581192" y="1232452"/>
            <a:ext cx="11307138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 dirty="0"/>
              <a:t>The proposed system is an </a:t>
            </a:r>
            <a:r>
              <a:rPr lang="en-US" sz="2700" b="1" dirty="0"/>
              <a:t>AI-powered Mental Health Companion </a:t>
            </a:r>
            <a:r>
              <a:rPr lang="en-US" sz="2700" b="1" dirty="0" err="1"/>
              <a:t>Chatbot</a:t>
            </a:r>
            <a:r>
              <a:rPr lang="en-US" sz="2700" dirty="0"/>
              <a:t> designed to support students’ emotional well-being in a </a:t>
            </a:r>
            <a:r>
              <a:rPr lang="en-US" sz="2700" b="1" dirty="0"/>
              <a:t>safe, private, and accessible manner</a:t>
            </a:r>
            <a:r>
              <a:rPr lang="en-US" sz="2700" dirty="0"/>
              <a:t>. The system allows students to freely express their thoughts and feelings through a chat-based interface. Using </a:t>
            </a:r>
            <a:r>
              <a:rPr lang="en-US" sz="2700" b="1" dirty="0"/>
              <a:t>Natural Language Processing (NLP)</a:t>
            </a:r>
            <a:r>
              <a:rPr lang="en-US" sz="2700" dirty="0"/>
              <a:t> and </a:t>
            </a:r>
            <a:r>
              <a:rPr lang="en-US" sz="2700" b="1" dirty="0"/>
              <a:t>sentiment analysis</a:t>
            </a:r>
            <a:r>
              <a:rPr lang="en-US" sz="2700" dirty="0"/>
              <a:t>, the </a:t>
            </a:r>
            <a:r>
              <a:rPr lang="en-US" sz="2700" dirty="0" err="1"/>
              <a:t>chatbot</a:t>
            </a:r>
            <a:r>
              <a:rPr lang="en-US" sz="2700" dirty="0"/>
              <a:t> identifies the user’s emotional state (positive, neutral, or negative). Based on the detected mood, a </a:t>
            </a:r>
            <a:r>
              <a:rPr lang="en-US" sz="2700" b="1" dirty="0"/>
              <a:t>Large Language Model (LLM)</a:t>
            </a:r>
            <a:r>
              <a:rPr lang="en-US" sz="2700" dirty="0"/>
              <a:t> generates empathetic, supportive, and motivational responses. The system also provides </a:t>
            </a:r>
            <a:r>
              <a:rPr lang="en-US" sz="2700" b="1" dirty="0"/>
              <a:t>guided breathing exercises, daily affirmations, wellness tips, and mood tracking features</a:t>
            </a:r>
            <a:r>
              <a:rPr lang="en-US" sz="2700" dirty="0"/>
              <a:t> to help users manage stress effectively. Built using </a:t>
            </a:r>
            <a:r>
              <a:rPr lang="en-US" sz="2700" b="1" dirty="0"/>
              <a:t>Python and </a:t>
            </a:r>
            <a:r>
              <a:rPr lang="en-US" sz="2700" b="1" dirty="0" err="1"/>
              <a:t>Streamlit</a:t>
            </a:r>
            <a:r>
              <a:rPr lang="en-US" sz="2700" dirty="0"/>
              <a:t>, the application is lightweight, user-friendly, and available anytime, making it a practical mental health support tool for students.</a:t>
            </a:r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79783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 DEVELOPMENT Approach</a:t>
            </a:r>
            <a:endParaRPr lang="en-US" sz="44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614F04E-6F49-1ECF-2A47-F63BBF04A3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192868"/>
            <a:ext cx="11291141" cy="511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b="1" dirty="0" smtClean="0"/>
              <a:t>User </a:t>
            </a:r>
            <a:r>
              <a:rPr lang="en-US" sz="2200" b="1" dirty="0"/>
              <a:t>Interface Layer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200" dirty="0" err="1"/>
              <a:t>Streamlit</a:t>
            </a:r>
            <a:r>
              <a:rPr lang="en-US" sz="2200" dirty="0"/>
              <a:t>-based web interface for student interaction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Allows users to type thoughts, emotions, and concerns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Displays </a:t>
            </a:r>
            <a:r>
              <a:rPr lang="en-US" sz="2200" dirty="0" err="1"/>
              <a:t>chatbot</a:t>
            </a:r>
            <a:r>
              <a:rPr lang="en-US" sz="2200" dirty="0"/>
              <a:t> responses, affirmations, and wellness tips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Designed with a calm and user-friendly layout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b="1" dirty="0"/>
              <a:t>Input Processing Layer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200" dirty="0"/>
              <a:t>Receives user text input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Cleans and prepares text for analysis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Converts raw input into a format suitable for NLP processing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b="1" dirty="0"/>
              <a:t>Purpose:</a:t>
            </a:r>
            <a:r>
              <a:rPr lang="en-US" sz="2200" dirty="0"/>
              <a:t/>
            </a:r>
            <a:br>
              <a:rPr lang="en-US" sz="2200" dirty="0"/>
            </a:br>
            <a:r>
              <a:rPr lang="en-US" sz="2200" dirty="0"/>
              <a:t>To ensure smooth, safe, and intuitive communication between the user and the system.</a:t>
            </a: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49657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 DEVELOPMENT Approach</a:t>
            </a:r>
            <a:endParaRPr lang="en-US" sz="44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614F04E-6F49-1ECF-2A47-F63BBF04A3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463480"/>
            <a:ext cx="11291141" cy="44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200" b="1" dirty="0" smtClean="0"/>
              <a:t>Mood </a:t>
            </a:r>
            <a:r>
              <a:rPr lang="en-US" sz="2200" b="1" dirty="0"/>
              <a:t>Detection (NLP Layer)</a:t>
            </a:r>
            <a:endParaRPr lang="en-US" sz="2200" dirty="0"/>
          </a:p>
          <a:p>
            <a:r>
              <a:rPr lang="en-US" sz="2200" dirty="0"/>
              <a:t>Uses sentiment analysis to detect emotional state</a:t>
            </a:r>
          </a:p>
          <a:p>
            <a:r>
              <a:rPr lang="en-US" sz="2200" dirty="0"/>
              <a:t>Classifies mood as </a:t>
            </a:r>
            <a:r>
              <a:rPr lang="en-US" sz="2200" b="1" dirty="0"/>
              <a:t>Positive, Neutral, or Negative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AI Response Generation (LLM Layer)</a:t>
            </a:r>
            <a:endParaRPr lang="en-US" sz="2200" dirty="0"/>
          </a:p>
          <a:p>
            <a:r>
              <a:rPr lang="en-US" sz="2200" dirty="0"/>
              <a:t>Uses a Large Language Model (LLM)</a:t>
            </a:r>
          </a:p>
          <a:p>
            <a:r>
              <a:rPr lang="en-US" sz="2200" dirty="0"/>
              <a:t>Generates empathetic, supportive, and context-aware responses</a:t>
            </a:r>
          </a:p>
          <a:p>
            <a:r>
              <a:rPr lang="en-US" sz="2200" dirty="0"/>
              <a:t>Response tone dynamically adapts based on detected mood</a:t>
            </a:r>
          </a:p>
          <a:p>
            <a:pPr marL="0" indent="0">
              <a:buNone/>
            </a:pPr>
            <a:r>
              <a:rPr lang="en-US" sz="2200" b="1" dirty="0"/>
              <a:t>Purpose:</a:t>
            </a:r>
            <a:r>
              <a:rPr lang="en-US" sz="2200" dirty="0"/>
              <a:t/>
            </a:r>
            <a:br>
              <a:rPr lang="en-US" sz="2200" dirty="0"/>
            </a:br>
            <a:r>
              <a:rPr lang="en-US" sz="2200" dirty="0"/>
              <a:t>To understand user emotions and deliver personalized, emotionally appropriate support.</a:t>
            </a:r>
          </a:p>
        </p:txBody>
      </p:sp>
    </p:spTree>
    <p:extLst>
      <p:ext uri="{BB962C8B-B14F-4D97-AF65-F5344CB8AC3E}">
        <p14:creationId xmlns:p14="http://schemas.microsoft.com/office/powerpoint/2010/main" val="1790576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641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 DEVELOPMENT Approach</a:t>
            </a:r>
            <a:endParaRPr lang="en-US" sz="44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614F04E-6F49-1ECF-2A47-F63BBF04A3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192868"/>
            <a:ext cx="11291141" cy="5616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Wellness Support Layer</a:t>
            </a: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000" dirty="0"/>
              <a:t>Provides breathing exercises, affirmations, and stress-relief tips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Helps users manage anxiety and emotional distress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Session &amp; Data Management Layer</a:t>
            </a: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000" dirty="0"/>
              <a:t>Tracks mood history and session state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Maintains conversation continuity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Ensures minimal and secure data handling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Deployment &amp; Security Layer</a:t>
            </a: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000" dirty="0"/>
              <a:t>Deployed as a web application using </a:t>
            </a:r>
            <a:r>
              <a:rPr lang="en-US" sz="2000" dirty="0" err="1"/>
              <a:t>Streamlit</a:t>
            </a: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000" dirty="0"/>
              <a:t>API keys protected using environment variables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Ensures user privacy and data safety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Purpose: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To support long-term mental well-being with a secure and scalable system.</a:t>
            </a:r>
          </a:p>
        </p:txBody>
      </p:sp>
    </p:spTree>
    <p:extLst>
      <p:ext uri="{BB962C8B-B14F-4D97-AF65-F5344CB8AC3E}">
        <p14:creationId xmlns:p14="http://schemas.microsoft.com/office/powerpoint/2010/main" val="934009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 dirty="0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581192" y="1232452"/>
            <a:ext cx="10652865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ALGORITHM: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User enters a message expressing thoughts, emotions, or concerns through the chat interface.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Input text is preprocessed and validated to ensure clean and meaningful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Sentiment analysis is performed using NLP techniques to classify the user’s mood as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positive, neutral, or negative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Detected mood is mapped to emotional states such as calm, stressed, or anxious.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Conversation context is maintained using session memory for personalized responses.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AI prompts are dynamically generated based on detected mood: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Positive: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Motivational and encouraging responses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Neutral: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Reflective and guiding responses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Negative: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Empathetic and calming responses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Groq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-powered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LLaMA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-based Large Language Model processes mood-aware prompts.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AI generates supportive, non-judgmental responses in real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Wellness tools like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breathing exercises, affirmations, and tips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are triggered when needed.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Responses are formatted for clear frontend display.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User interactions and mood history are stored securely for insights and streak tracking.</a:t>
            </a: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81192" y="1256327"/>
            <a:ext cx="10217437" cy="5386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DEPLOYMENT: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Frontend developed using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Streamlit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providing a simple, interactive, and responsive web interface.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Application deployed locally and compatible with cloud platforms such as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Streamlit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Community Cloud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Backend logic implemented using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Python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integrating sentiment analysis and AI response generation.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Groq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API used to access high-performance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Large Language Models (LLMs)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for real-time responses.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Environment variables managed securely using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env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files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to protect API keys.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Session state used to maintain conversation context and mood streaks without external databases.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Modular code structure ensures easy scalability and feature expansion.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Lightweight architecture enables fast response times suitable for student usage.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CI-ready structure allows future deployment to cloud services like AWS or Azure.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System designed for high availability and low latency to support real-time mental health assistance.</a:t>
            </a:r>
          </a:p>
        </p:txBody>
      </p:sp>
    </p:spTree>
    <p:extLst>
      <p:ext uri="{BB962C8B-B14F-4D97-AF65-F5344CB8AC3E}">
        <p14:creationId xmlns:p14="http://schemas.microsoft.com/office/powerpoint/2010/main" val="28630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306" y="1232452"/>
            <a:ext cx="11292026" cy="5124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21" y="1232453"/>
            <a:ext cx="11131836" cy="515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953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307" y="1232452"/>
            <a:ext cx="11335037" cy="509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088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792" y="1232452"/>
            <a:ext cx="11291494" cy="508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574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792" y="1232452"/>
            <a:ext cx="11320522" cy="515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145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743" y="1232452"/>
            <a:ext cx="11117943" cy="511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113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872841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063C59-9F71-7E2F-E2B7-165191CF5A4E}"/>
              </a:ext>
            </a:extLst>
          </p:cNvPr>
          <p:cNvSpPr txBox="1"/>
          <p:nvPr/>
        </p:nvSpPr>
        <p:spPr>
          <a:xfrm>
            <a:off x="652443" y="1575521"/>
            <a:ext cx="10887111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The </a:t>
            </a:r>
            <a:r>
              <a:rPr lang="en-US" sz="2400" i="1" dirty="0"/>
              <a:t>Mental Health Companion </a:t>
            </a:r>
            <a:r>
              <a:rPr lang="en-US" sz="2400" i="1" dirty="0" err="1"/>
              <a:t>Chatbot</a:t>
            </a:r>
            <a:r>
              <a:rPr lang="en-US" sz="2400" i="1" dirty="0"/>
              <a:t> for Students</a:t>
            </a:r>
            <a:r>
              <a:rPr lang="en-US" sz="2400" dirty="0"/>
              <a:t> successfully demonstrates how </a:t>
            </a:r>
            <a:r>
              <a:rPr lang="en-US" sz="2400" b="1" dirty="0"/>
              <a:t>AI and Natural Language Processing</a:t>
            </a:r>
            <a:r>
              <a:rPr lang="en-US" sz="2400" dirty="0"/>
              <a:t> can be used to support student mental well-being in an accessible and non-judgmental way. By combining </a:t>
            </a:r>
            <a:r>
              <a:rPr lang="en-US" sz="2400" b="1" dirty="0"/>
              <a:t>sentiment analysis, mood detection, and a Large Language Model</a:t>
            </a:r>
            <a:r>
              <a:rPr lang="en-US" sz="2400" dirty="0"/>
              <a:t>, the system provides empathetic, mood-aware responses along with practical wellness tools such as breathing exercises, affirmations, and stress-management tips.</a:t>
            </a:r>
          </a:p>
          <a:p>
            <a:r>
              <a:rPr lang="en-US" sz="2400" dirty="0"/>
              <a:t>The </a:t>
            </a:r>
            <a:r>
              <a:rPr lang="en-US" sz="2400" dirty="0" err="1"/>
              <a:t>chatbot</a:t>
            </a:r>
            <a:r>
              <a:rPr lang="en-US" sz="2400" dirty="0"/>
              <a:t> offers a safe first point of support for students who may hesitate to seek professional help, helping reduce stress, anxiety, and emotional isolation. Its user-friendly </a:t>
            </a:r>
            <a:r>
              <a:rPr lang="en-US" sz="2400" dirty="0" err="1"/>
              <a:t>Streamlit</a:t>
            </a:r>
            <a:r>
              <a:rPr lang="en-US" sz="2400" dirty="0"/>
              <a:t> interface, real-time interaction, and personalized responses make it both effective and easy to use. While not a replacement for professional mental health care, this project highlights the potential of </a:t>
            </a:r>
            <a:r>
              <a:rPr lang="en-US" sz="2400" b="1" dirty="0"/>
              <a:t>Generative AI as a supportive companion</a:t>
            </a:r>
            <a:r>
              <a:rPr lang="en-US" sz="2400" dirty="0"/>
              <a:t>, promoting awareness, emotional regulation, and healthier coping habits among students.</a:t>
            </a: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BCE0E30-F38C-D82A-6AE5-ECF63EAB5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342" y="1519003"/>
            <a:ext cx="10354271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Integrate </a:t>
            </a:r>
            <a:r>
              <a:rPr lang="en-US" sz="2800" b="1" dirty="0"/>
              <a:t>advanced emotion detection</a:t>
            </a:r>
            <a:r>
              <a:rPr lang="en-US" sz="2800" dirty="0"/>
              <a:t> using voice and facial cues.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Enable </a:t>
            </a:r>
            <a:r>
              <a:rPr lang="en-US" sz="2800" b="1" dirty="0"/>
              <a:t>long-term mood tracking</a:t>
            </a:r>
            <a:r>
              <a:rPr lang="en-US" sz="2800" dirty="0"/>
              <a:t> with weekly and monthly insights.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Add </a:t>
            </a:r>
            <a:r>
              <a:rPr lang="en-US" sz="2800" b="1" dirty="0"/>
              <a:t>multilingual support</a:t>
            </a:r>
            <a:r>
              <a:rPr lang="en-US" sz="2800" dirty="0"/>
              <a:t> for wider student accessibility.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Incorporate </a:t>
            </a:r>
            <a:r>
              <a:rPr lang="en-US" sz="2800" b="1" dirty="0"/>
              <a:t>professional mental health support</a:t>
            </a:r>
            <a:r>
              <a:rPr lang="en-US" sz="2800" dirty="0"/>
              <a:t> and emergency helplines.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Develop a </a:t>
            </a:r>
            <a:r>
              <a:rPr lang="en-US" sz="2800" b="1" dirty="0"/>
              <a:t>mobile application</a:t>
            </a:r>
            <a:r>
              <a:rPr lang="en-US" sz="2800" dirty="0"/>
              <a:t> for continuous, on-the-go support.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Enhance AI personalization using </a:t>
            </a:r>
            <a:r>
              <a:rPr lang="en-US" sz="2800" b="1" dirty="0"/>
              <a:t>adaptive and reinforcement learning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rgbClr val="1CADE4"/>
                </a:solidFill>
                <a:latin typeface="Arial"/>
                <a:ea typeface="+mj-lt"/>
                <a:cs typeface="Arial"/>
              </a:rPr>
              <a:t>References</a:t>
            </a:r>
            <a:endParaRPr lang="en-US" dirty="0">
              <a:solidFill>
                <a:srgbClr val="1CADE4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C18EB1-98DF-5C95-A95E-3E28E4018E37}"/>
              </a:ext>
            </a:extLst>
          </p:cNvPr>
          <p:cNvSpPr txBox="1"/>
          <p:nvPr/>
        </p:nvSpPr>
        <p:spPr>
          <a:xfrm>
            <a:off x="797575" y="944730"/>
            <a:ext cx="10244275" cy="65556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800" b="1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fr-FR" sz="2800" i="1" dirty="0" err="1"/>
              <a:t>Streamlit</a:t>
            </a:r>
            <a:r>
              <a:rPr lang="fr-FR" sz="2800" i="1" dirty="0"/>
              <a:t> Documentation</a:t>
            </a:r>
            <a:r>
              <a:rPr lang="fr-FR" sz="2800" dirty="0"/>
              <a:t> </a:t>
            </a:r>
          </a:p>
          <a:p>
            <a:pPr>
              <a:lnSpc>
                <a:spcPct val="150000"/>
              </a:lnSpc>
            </a:pPr>
            <a:r>
              <a:rPr lang="fr-FR" sz="2800" dirty="0"/>
              <a:t>   </a:t>
            </a:r>
            <a:r>
              <a:rPr lang="en-IN" sz="2800" dirty="0">
                <a:hlinkClick r:id="rId2"/>
              </a:rPr>
              <a:t>https://docs.streamlit.io</a:t>
            </a:r>
            <a:endParaRPr lang="fr-F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 err="1"/>
              <a:t>Groq</a:t>
            </a:r>
            <a:r>
              <a:rPr lang="en-IN" sz="2800" b="1" dirty="0"/>
              <a:t> API Documentation</a:t>
            </a:r>
            <a:r>
              <a:rPr lang="en-IN" sz="2800" dirty="0"/>
              <a:t> – LLM inference using </a:t>
            </a:r>
            <a:r>
              <a:rPr lang="en-IN" sz="2800" dirty="0" err="1"/>
              <a:t>LLaMA</a:t>
            </a:r>
            <a:r>
              <a:rPr lang="en-IN" sz="2800" dirty="0"/>
              <a:t> models</a:t>
            </a:r>
            <a:br>
              <a:rPr lang="en-IN" sz="2800" dirty="0"/>
            </a:br>
            <a:r>
              <a:rPr lang="en-IN" sz="2800" dirty="0">
                <a:hlinkClick r:id="rId3"/>
              </a:rPr>
              <a:t>https://console.groq.com/docs</a:t>
            </a:r>
            <a:endParaRPr lang="en-IN" sz="2800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800" b="1" dirty="0"/>
              <a:t>Meta </a:t>
            </a:r>
            <a:r>
              <a:rPr lang="en-US" sz="2800" b="1" dirty="0" err="1"/>
              <a:t>LLaMA</a:t>
            </a:r>
            <a:r>
              <a:rPr lang="en-US" sz="2800" b="1" dirty="0"/>
              <a:t> Large Language </a:t>
            </a:r>
            <a:r>
              <a:rPr lang="en-US" sz="2800" b="1" dirty="0" smtClean="0"/>
              <a:t>Models</a:t>
            </a:r>
          </a:p>
          <a:p>
            <a:pPr>
              <a:lnSpc>
                <a:spcPct val="150000"/>
              </a:lnSpc>
            </a:pPr>
            <a:r>
              <a:rPr lang="en-IN" sz="2800" dirty="0"/>
              <a:t> </a:t>
            </a:r>
            <a:r>
              <a:rPr lang="en-IN" sz="2800" dirty="0" smtClean="0"/>
              <a:t>  </a:t>
            </a:r>
            <a:r>
              <a:rPr lang="en-IN" sz="2800" dirty="0" smtClean="0">
                <a:hlinkClick r:id="rId4"/>
              </a:rPr>
              <a:t>https://ai.meta.com/llama/</a:t>
            </a:r>
            <a:r>
              <a:rPr lang="en-IN" sz="2800" dirty="0" smtClean="0"/>
              <a:t>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smtClean="0"/>
              <a:t>Visual </a:t>
            </a:r>
            <a:r>
              <a:rPr lang="en-US" sz="2800" dirty="0"/>
              <a:t>Studio Code (VS Code</a:t>
            </a:r>
            <a:r>
              <a:rPr lang="en-US" sz="2800" dirty="0" smtClean="0"/>
              <a:t>) 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 smtClean="0"/>
              <a:t>   </a:t>
            </a:r>
            <a:r>
              <a:rPr lang="en-US" sz="2800" dirty="0" smtClean="0">
                <a:hlinkClick r:id="rId5"/>
              </a:rPr>
              <a:t>https</a:t>
            </a:r>
            <a:r>
              <a:rPr lang="en-US" sz="2800" dirty="0">
                <a:hlinkClick r:id="rId5"/>
              </a:rPr>
              <a:t>://code.visualstudio.com</a:t>
            </a:r>
            <a:r>
              <a:rPr lang="en-US" sz="2800" dirty="0" smtClean="0">
                <a:hlinkClick r:id="rId5"/>
              </a:rPr>
              <a:t>/</a:t>
            </a:r>
            <a:endParaRPr lang="en-US" sz="2800" dirty="0" smtClean="0"/>
          </a:p>
          <a:p>
            <a:pPr>
              <a:lnSpc>
                <a:spcPct val="150000"/>
              </a:lnSpc>
            </a:pPr>
            <a:endParaRPr lang="en-IN" sz="2800" dirty="0"/>
          </a:p>
          <a:p>
            <a:pPr>
              <a:lnSpc>
                <a:spcPct val="150000"/>
              </a:lnSpc>
            </a:pPr>
            <a:endParaRPr 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18F4-90FF-869B-D16A-31F40314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err="1">
                <a:solidFill>
                  <a:srgbClr val="1CADE4"/>
                </a:solidFill>
              </a:rPr>
              <a:t>Github</a:t>
            </a:r>
            <a:r>
              <a:rPr lang="en-US" sz="3600" dirty="0">
                <a:solidFill>
                  <a:srgbClr val="1CADE4"/>
                </a:solidFill>
              </a:rPr>
              <a:t> </a:t>
            </a:r>
            <a:r>
              <a:rPr lang="en-US" sz="3600" dirty="0" smtClean="0">
                <a:solidFill>
                  <a:srgbClr val="1CADE4"/>
                </a:solidFill>
              </a:rPr>
              <a:t>link:</a:t>
            </a:r>
            <a:endParaRPr lang="en-IN" sz="3600" dirty="0">
              <a:solidFill>
                <a:srgbClr val="1CADE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8B4D2-2154-F20B-F64F-A6097D21B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IN" sz="2800" dirty="0" err="1"/>
              <a:t>Github</a:t>
            </a:r>
            <a:r>
              <a:rPr lang="en-IN" sz="2800" dirty="0"/>
              <a:t> Link : </a:t>
            </a:r>
            <a:r>
              <a:rPr lang="en-IN" sz="2800" dirty="0">
                <a:hlinkClick r:id="rId2"/>
              </a:rPr>
              <a:t>https://</a:t>
            </a:r>
            <a:r>
              <a:rPr lang="en-IN" sz="2800" dirty="0" smtClean="0">
                <a:hlinkClick r:id="rId2"/>
              </a:rPr>
              <a:t>github.com/DIVYADHARSHINI-S-16/Mental-Health-Chatbot</a:t>
            </a:r>
            <a:endParaRPr lang="en-IN" sz="2800" dirty="0" smtClean="0"/>
          </a:p>
          <a:p>
            <a:pPr marL="305435" indent="-305435"/>
            <a:r>
              <a:rPr lang="en-IN" sz="2800" dirty="0" smtClean="0"/>
              <a:t>Deployment </a:t>
            </a:r>
            <a:r>
              <a:rPr lang="en-IN" sz="2800" dirty="0"/>
              <a:t>Link</a:t>
            </a:r>
            <a:r>
              <a:rPr lang="en-IN" sz="2800" dirty="0" smtClean="0"/>
              <a:t>: </a:t>
            </a:r>
            <a:r>
              <a:rPr lang="en-IN" sz="2800" dirty="0" smtClean="0">
                <a:hlinkClick r:id="rId3"/>
              </a:rPr>
              <a:t>https</a:t>
            </a:r>
            <a:r>
              <a:rPr lang="en-IN" sz="2800" dirty="0">
                <a:hlinkClick r:id="rId3"/>
              </a:rPr>
              <a:t>://mental-health-chatbots.streamlit.app</a:t>
            </a:r>
            <a:r>
              <a:rPr lang="en-IN" sz="2800" dirty="0" smtClean="0">
                <a:hlinkClick r:id="rId3"/>
              </a:rPr>
              <a:t>/</a:t>
            </a:r>
            <a:endParaRPr lang="en-IN" sz="2800" dirty="0" smtClean="0"/>
          </a:p>
          <a:p>
            <a:pPr marL="305435" indent="-305435"/>
            <a:r>
              <a:rPr lang="en-IN" sz="2800" dirty="0" smtClean="0"/>
              <a:t>API Used (if needed) : </a:t>
            </a:r>
            <a:r>
              <a:rPr lang="en-IN" sz="2800" dirty="0" smtClean="0"/>
              <a:t>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</a:t>
            </a:r>
          </a:p>
          <a:p>
            <a:pPr marL="305435" indent="-305435"/>
            <a:r>
              <a:rPr lang="en-US" sz="2800" dirty="0"/>
              <a:t>In case the </a:t>
            </a:r>
            <a:r>
              <a:rPr lang="en-US" sz="2800" dirty="0" err="1"/>
              <a:t>Streamlit</a:t>
            </a:r>
            <a:r>
              <a:rPr lang="en-US" sz="2800" dirty="0"/>
              <a:t> text is displayed in gray on a laptop, we recommend viewing it on a mobile </a:t>
            </a:r>
            <a:r>
              <a:rPr lang="en-US" sz="2800" dirty="0" err="1" smtClean="0"/>
              <a:t>device,it</a:t>
            </a:r>
            <a:r>
              <a:rPr lang="en-US" sz="2800" dirty="0" smtClean="0"/>
              <a:t> works well.</a:t>
            </a:r>
            <a:endParaRPr lang="en-IN" sz="2800" b="1" dirty="0">
              <a:solidFill>
                <a:srgbClr val="4493F8"/>
              </a:solidFill>
              <a:highlight>
                <a:srgbClr val="0D1117"/>
              </a:highlight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95909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520" y="2423318"/>
            <a:ext cx="9298744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D289AE2-D2AE-49D1-AFAC-3A79F6794255}">
  <ds:schemaRefs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c0fa2617-96bd-425d-8578-e93563fe37c5"/>
    <ds:schemaRef ds:uri="9162bd5b-4ed9-4da3-b376-05204580ba3f"/>
  </ds:schemaRefs>
</ds:datastoreItem>
</file>

<file path=customXml/itemProps2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76</TotalTime>
  <Words>1099</Words>
  <Application>Microsoft Office PowerPoint</Application>
  <PresentationFormat>Widescreen</PresentationFormat>
  <Paragraphs>112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Calibri Light</vt:lpstr>
      <vt:lpstr>Franklin Gothic Book</vt:lpstr>
      <vt:lpstr>Franklin Gothic Demi</vt:lpstr>
      <vt:lpstr>Wingdings</vt:lpstr>
      <vt:lpstr>Wingdings 2</vt:lpstr>
      <vt:lpstr>DividendVTI</vt:lpstr>
      <vt:lpstr>MENTAL HEALTH COMPANION CHATBOT</vt:lpstr>
      <vt:lpstr>OUTLINE</vt:lpstr>
      <vt:lpstr>Problem Statement</vt:lpstr>
      <vt:lpstr>Proposed SYSTEM/Solution</vt:lpstr>
      <vt:lpstr>System DEVELOPMENT Approach</vt:lpstr>
      <vt:lpstr>System DEVELOPMENT Approach</vt:lpstr>
      <vt:lpstr>System DEVELOPMENT Approach</vt:lpstr>
      <vt:lpstr>Algorithm &amp; Deployment</vt:lpstr>
      <vt:lpstr>Algorithm &amp; Deployment</vt:lpstr>
      <vt:lpstr>Result</vt:lpstr>
      <vt:lpstr>Result</vt:lpstr>
      <vt:lpstr>Result</vt:lpstr>
      <vt:lpstr>Result</vt:lpstr>
      <vt:lpstr>Result</vt:lpstr>
      <vt:lpstr>Result</vt:lpstr>
      <vt:lpstr>Conclusion</vt:lpstr>
      <vt:lpstr>PowerPoint Presentation</vt:lpstr>
      <vt:lpstr>References</vt:lpstr>
      <vt:lpstr>Github link: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Divya dharshini</cp:lastModifiedBy>
  <cp:revision>14</cp:revision>
  <dcterms:created xsi:type="dcterms:W3CDTF">2021-05-26T16:50:10Z</dcterms:created>
  <dcterms:modified xsi:type="dcterms:W3CDTF">2026-01-20T14:49:20Z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